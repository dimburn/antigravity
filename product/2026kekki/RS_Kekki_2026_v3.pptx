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-1828800"/>
            <a:ext cx="9144000" cy="9144000"/>
          </a:xfrm>
          <a:prstGeom prst="ellipse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FF6B00"/>
                </a:solidFill>
                <a:latin typeface="Impact"/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eiryo UI"/>
              </a:defRPr>
            </a:pPr>
            <a:r>
              <a:t>Kickoff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3657600" cy="91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899AA"/>
                </a:solidFill>
                <a:latin typeface="Meiryo UI"/>
              </a:defRPr>
            </a:pPr>
            <a:r>
              <a:t>Retail Support Division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0"/>
            <a:ext cx="5486400" cy="22860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0">
                <a:solidFill>
                  <a:srgbClr val="DDDDDD"/>
                </a:solidFill>
                <a:latin typeface="Meiryo UI"/>
              </a:defRPr>
            </a:pPr>
            <a:r>
              <a:t>From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3891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000" b="1">
                <a:solidFill>
                  <a:srgbClr val="FF6B00"/>
                </a:solidFill>
                <a:latin typeface="Meiryo UI"/>
              </a:defRPr>
            </a:pPr>
            <a:r>
              <a:t>to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03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サポートから業界インフラへ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組織改編：リーテイルサポート部門の新体制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Meiryo UI"/>
              </a:defRPr>
            </a:pPr>
            <a:r>
              <a:t>Old Structure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657600" cy="13716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食品流通部門</a:t>
            </a:r>
            <a:br/>
            <a:r>
              <a:t>営業本部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46320" y="2286000"/>
            <a:ext cx="914400" cy="45720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00"/>
                </a:solidFill>
                <a:latin typeface="Meiryo UI"/>
              </a:defRPr>
            </a:pPr>
            <a:r>
              <a:t>New Structure (2026)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828800"/>
            <a:ext cx="5669280" cy="3657600"/>
          </a:xfrm>
          <a:prstGeom prst="roundRect">
            <a:avLst/>
          </a:prstGeom>
          <a:solidFill>
            <a:srgbClr val="11223A"/>
          </a:solidFill>
          <a:ln w="2540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リーテイルサポート部門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2286000" cy="109728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eiryo UI"/>
              </a:defRPr>
            </a:pPr>
            <a:r>
              <a:t>営業第1事業部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743200"/>
            <a:ext cx="2286000" cy="109728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eiryo UI"/>
              </a:defRPr>
            </a:pPr>
            <a:r>
              <a:t>営業第2事業部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4937760" cy="9144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389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eiryo UI"/>
              </a:defRPr>
            </a:pPr>
            <a:r>
              <a:t>営業支援本部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eiryo UI"/>
              </a:defRPr>
            </a:pPr>
            <a:r>
              <a:t>Point: 専門性と機動力の強化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2026年度 部門目標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Challenge to the Next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eiryo UI"/>
              </a:defRPr>
            </a:pPr>
            <a:r>
              <a:t>売上高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1,200 億円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7472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eiryo UI"/>
              </a:defRPr>
            </a:pPr>
            <a:r>
              <a:t>粗利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23 億円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7472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eiryo UI"/>
              </a:defRPr>
            </a:pPr>
            <a:r>
              <a:t>営業利益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8.1 億円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00"/>
                </a:solidFill>
                <a:latin typeface="Meiryo UI"/>
              </a:defRPr>
            </a:pPr>
            <a:r>
              <a:t>この高い目標を、全員の力で達成しよう！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2030年 中期ビジョン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Road to 2000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DDDDD"/>
                </a:solidFill>
                <a:latin typeface="Meiryo UI"/>
              </a:defRPr>
            </a:pPr>
            <a:r>
              <a:t>部門売上目標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286000"/>
            <a:ext cx="6702552" cy="22860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6702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Meiryo UI"/>
              </a:defRPr>
            </a:pPr>
            <a:r>
              <a:t>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657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億円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Meiryo UI"/>
              </a:defRPr>
            </a:pPr>
            <a:r>
              <a:t>（グループ全体目標: 4,000億円 達成への貢献）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2040年 長期ビジョン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The Moonshot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438912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Meiryo UI"/>
              </a:defRPr>
            </a:pPr>
            <a:r>
              <a:t>グループ全体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D700"/>
                </a:solidFill>
                <a:latin typeface="Meiryo UI"/>
              </a:defRPr>
            </a:pPr>
            <a:r>
              <a:t>1兆円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38912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Meiryo UI"/>
              </a:defRPr>
            </a:pPr>
            <a:r>
              <a:t>リーテイルサポート部門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eiryo UI"/>
              </a:defRPr>
            </a:pPr>
            <a:r>
              <a:t>5,000億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00"/>
                </a:solidFill>
                <a:latin typeface="Meiryo UI"/>
              </a:defRPr>
            </a:pPr>
            <a:r>
              <a:t>途方もない挑戦を、共に成し遂げよう！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5年間の成長計画（2026-2030）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105156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63040" y="3493008"/>
            <a:ext cx="1280160" cy="1536192"/>
          </a:xfrm>
          <a:prstGeom prst="roundRect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5120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272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1200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5844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(利23)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300984"/>
            <a:ext cx="1280160" cy="1728216"/>
          </a:xfrm>
          <a:prstGeom prst="roundRect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5120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352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1350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924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(利35)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108960"/>
            <a:ext cx="1280160" cy="1920240"/>
          </a:xfrm>
          <a:prstGeom prst="roundRect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5120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743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1500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(利50)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2788920"/>
            <a:ext cx="1280160" cy="2240279"/>
          </a:xfrm>
          <a:prstGeom prst="roundRect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5120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2029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423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1750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880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(利75)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468879"/>
            <a:ext cx="1280160" cy="256032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5120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2000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560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(利100)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2026年 新組織体制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Organization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4114800" cy="73152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リーテイルサポート部門</a:t>
            </a:r>
            <a:br/>
            <a:r>
              <a:t>（部門長：青山）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103120"/>
            <a:ext cx="45720" cy="457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2560320"/>
            <a:ext cx="8046720" cy="457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03120" y="2560320"/>
            <a:ext cx="45720" cy="3657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474720" cy="22860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営業第1事業部</a:t>
            </a:r>
            <a:br/>
            <a:r>
              <a:t>(青山)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 UI"/>
              </a:defRPr>
            </a:pPr>
            <a:r>
              <a:t>■ 第1グループ</a:t>
            </a:r>
            <a:br/>
            <a:r>
              <a:t>■ 第2グループ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外食チェーン</a:t>
            </a:r>
            <a:br/>
            <a:r>
              <a:t>ファストフード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560320"/>
            <a:ext cx="45720" cy="3657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2926080"/>
            <a:ext cx="3474720" cy="22860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108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営業第2事業部</a:t>
            </a:r>
            <a:br/>
            <a:r>
              <a:t>(山内)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 UI"/>
              </a:defRPr>
            </a:pPr>
            <a:r>
              <a:t>■ 第3グループ</a:t>
            </a:r>
            <a:br/>
            <a:r>
              <a:t>■ 第4グループ</a:t>
            </a:r>
            <a:br/>
            <a:r>
              <a:t>■ 営業推進室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72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ホテル・ブライダル</a:t>
            </a:r>
            <a:br/>
            <a:r>
              <a:t>給食・介護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2560320"/>
            <a:ext cx="45720" cy="3657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2926080"/>
            <a:ext cx="3474720" cy="22860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営業支援本部</a:t>
            </a:r>
            <a:br/>
            <a:r>
              <a:t>(山本)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 UI"/>
              </a:defRPr>
            </a:pPr>
            <a:r>
              <a:t>■ 業務グループ</a:t>
            </a:r>
            <a:br/>
            <a:r>
              <a:t>■ 購買戦略G</a:t>
            </a:r>
            <a:br/>
            <a:r>
              <a:t>■ SCMグループ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人材拡充計画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Career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Meiryo UI"/>
              </a:defRPr>
            </a:pPr>
            <a:r>
              <a:t>Current (2026)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411480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926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事業部長: 2名</a:t>
            </a:r>
            <a:br/>
            <a:r>
              <a:t>部長級: 6名</a:t>
            </a:r>
            <a:br/>
            <a:r>
              <a:t>中級管理職: 15名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80" y="3474720"/>
            <a:ext cx="914400" cy="45720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Future (2030)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286000"/>
            <a:ext cx="4114800" cy="2743200"/>
          </a:xfrm>
          <a:prstGeom prst="roundRect">
            <a:avLst/>
          </a:prstGeom>
          <a:solidFill>
            <a:srgbClr val="11223A"/>
          </a:solidFill>
          <a:ln w="2540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926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事業部長: 6名</a:t>
            </a:r>
            <a:br/>
            <a:r>
              <a:t>部長級: 12名</a:t>
            </a:r>
            <a:br/>
            <a:r>
              <a:t>中級管理職: 30名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00"/>
                </a:solidFill>
                <a:latin typeface="Meiryo UI"/>
              </a:defRPr>
            </a:pPr>
            <a:r>
              <a:t>組織の成長 ＝ 皆さんのキャリアチャンス拡大！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61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0" b="1">
                <a:solidFill>
                  <a:srgbClr val="11223A"/>
                </a:solidFill>
                <a:latin typeface="Meiryo UI"/>
              </a:defRPr>
            </a:pPr>
            <a: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Strategic Slogan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DDDDD"/>
                </a:solidFill>
                <a:latin typeface="Meiryo UI"/>
              </a:defRPr>
            </a:pPr>
            <a:r>
              <a:t>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eiryo UI"/>
              </a:defRPr>
            </a:pPr>
            <a:r>
              <a:t>SUPPORT</a:t>
            </a:r>
          </a:p>
        </p:txBody>
      </p:sp>
      <p:sp>
        <p:nvSpPr>
          <p:cNvPr id="9" name="Chevron 8"/>
          <p:cNvSpPr/>
          <p:nvPr/>
        </p:nvSpPr>
        <p:spPr>
          <a:xfrm>
            <a:off x="5486400" y="2743200"/>
            <a:ext cx="1371600" cy="914400"/>
          </a:xfrm>
          <a:prstGeom prst="chevron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DDDDD"/>
                </a:solidFill>
                <a:latin typeface="Meiryo UI"/>
              </a:defRPr>
            </a:pPr>
            <a:r>
              <a:t>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6B00"/>
                </a:solidFill>
                <a:latin typeface="Meiryo UI"/>
              </a:defRPr>
            </a:pPr>
            <a:r>
              <a:t>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9445752" cy="13716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eiryo UI"/>
              </a:defRPr>
            </a:pPr>
            <a:r>
              <a:t>私たちは単なる「裏方」ではない。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食の流通を支え、日本の食卓を守る「社会インフラ」である。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食品流通第1事業部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Organization &amp; 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4114800" cy="73152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事業部長：青山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DDDD"/>
                </a:solidFill>
                <a:latin typeface="Meiryo UI"/>
              </a:defRPr>
            </a:pPr>
            <a:r>
              <a:t>【担当領域】外食産業（ファミレス・居酒屋・ファストフード等）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743200"/>
            <a:ext cx="3657600" cy="18288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00"/>
                </a:solidFill>
                <a:latin typeface="Meiryo UI"/>
              </a:defRPr>
            </a:pPr>
            <a:r>
              <a:t>第1グループ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747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部長</a:t>
            </a:r>
            <a:br/>
            <a:r>
              <a:t>佐藤浩一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743200"/>
            <a:ext cx="3657600" cy="18288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00"/>
                </a:solidFill>
                <a:latin typeface="Meiryo UI"/>
              </a:defRPr>
            </a:pPr>
            <a:r>
              <a:t>第2グループ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4747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統括マネージャー</a:t>
            </a:r>
            <a:br/>
            <a:r>
              <a:t>洲之内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第1グループ 2026年度計画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Action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365760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eiryo UI"/>
              </a:defRPr>
            </a:pPr>
            <a:r>
              <a:t>売上目標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○○億円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重点戦略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74320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8803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主要顧客への提案力強化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301752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384048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9776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新規大型案件の獲得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0" y="411480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493776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5074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仕入れコスト改善による利益率向上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521208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第2グループ 2026年度計画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Action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365760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eiryo UI"/>
              </a:defRPr>
            </a:pPr>
            <a:r>
              <a:t>売上目標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○○億円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重点戦略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74320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8803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新メニュー開発支援の拡充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301752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384048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9776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地方チェーン顧客の開拓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0" y="411480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493776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5074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配送効率アップによるコスト削減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521208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食品流通第2事業部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Organization &amp; 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4114800" cy="73152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事業部長：山内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DDDD"/>
                </a:solidFill>
                <a:latin typeface="Meiryo UI"/>
              </a:defRPr>
            </a:pPr>
            <a:r>
              <a:t>【担当領域】ホテル・ブライダル・介護施設・受託給食等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743200"/>
            <a:ext cx="2743200" cy="18288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第3グループ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部長</a:t>
            </a:r>
            <a:br/>
            <a:r>
              <a:t>梶浦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743200"/>
            <a:ext cx="2743200" cy="18288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第4グループ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統括マネージャー</a:t>
            </a:r>
            <a:br/>
            <a:r>
              <a:t>平佐多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43200"/>
            <a:ext cx="2743200" cy="18288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営業推進室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4747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室長</a:t>
            </a:r>
            <a:br/>
            <a:r>
              <a:t>TBD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第3グループ 2026年度計画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Action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365760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eiryo UI"/>
              </a:defRPr>
            </a:pPr>
            <a:r>
              <a:t>売上目標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○○億円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重点戦略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74320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8803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主要ホテルチェーンとの新規契約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301752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384048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9776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ブライダル向け新商品提案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0" y="411480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493776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5074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サービス品質向上によるリピート増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521208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第4グループ 2026年度計画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Action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3657600" cy="27432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eiryo UI"/>
              </a:defRPr>
            </a:pPr>
            <a:r>
              <a:t>売上目標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○○億円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重点戦略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74320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8803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介護施設向け提案営業の強化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301752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384048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9776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給食業者とのパートナー連携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0" y="411480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4937760"/>
            <a:ext cx="6400800" cy="8229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5074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地域ニーズ調査による商品最適化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521208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営業支援本部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Back Office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4114800" cy="73152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担当部長：山本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2743200" cy="22860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業務グループ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部長：前田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業務推進部・CS推進室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743200"/>
            <a:ext cx="2743200" cy="22860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購買戦略グループ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部長：若井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購買戦略室・海外調達室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743200"/>
            <a:ext cx="2743200" cy="22860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SCMグループ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部長：梶浦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eiryo UI"/>
              </a:defRPr>
            </a:pPr>
            <a:r>
              <a:t>物流企画室・物流管理室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営業支援本部 重点施策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Strategic Initiatives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286000" cy="457200"/>
          </a:xfrm>
          <a:prstGeom prst="roundRect">
            <a:avLst/>
          </a:prstGeom>
          <a:solidFill>
            <a:srgbClr val="FF6B00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1224"/>
                </a:solidFill>
                <a:latin typeface="Meiryo UI"/>
              </a:defRPr>
            </a:pPr>
            <a:r>
              <a:t>業務グループ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28800"/>
            <a:ext cx="8229600" cy="12801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eiryo UI"/>
              </a:defRPr>
            </a:pPr>
            <a:r>
              <a:t>営業プロセス効率化とCS向上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 UI"/>
              </a:defRPr>
            </a:pPr>
            <a:r>
              <a:t>・営業事務手順の標準化</a:t>
            </a:r>
            <a:br/>
            <a:r>
              <a:t>・新CRMシステム導入</a:t>
            </a:r>
            <a:br/>
            <a:r>
              <a:t>・カスタマーサポート体制強化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2286000" cy="457200"/>
          </a:xfrm>
          <a:prstGeom prst="roundRect">
            <a:avLst/>
          </a:prstGeom>
          <a:solidFill>
            <a:srgbClr val="FF6B00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1224"/>
                </a:solidFill>
                <a:latin typeface="Meiryo UI"/>
              </a:defRPr>
            </a:pPr>
            <a:r>
              <a:t>購買戦略グループ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91840"/>
            <a:ext cx="8229600" cy="12801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383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eiryo UI"/>
              </a:defRPr>
            </a:pPr>
            <a:r>
              <a:t>業界随一の調達ネットワーク拡充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40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 UI"/>
              </a:defRPr>
            </a:pPr>
            <a:r>
              <a:t>・仕入先ネットワーク拡大（約6,000社→更に増強）</a:t>
            </a:r>
            <a:br/>
            <a:r>
              <a:t>・一括大量仕入れによるコスト削減</a:t>
            </a:r>
            <a:br/>
            <a:r>
              <a:t>・新規サプライヤ開拓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2286000" cy="457200"/>
          </a:xfrm>
          <a:prstGeom prst="roundRect">
            <a:avLst/>
          </a:prstGeom>
          <a:solidFill>
            <a:srgbClr val="FF6B00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1224"/>
                </a:solidFill>
                <a:latin typeface="Meiryo UI"/>
              </a:defRPr>
            </a:pPr>
            <a:r>
              <a:t>SCMグループ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754880"/>
            <a:ext cx="8229600" cy="128016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846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eiryo UI"/>
              </a:defRPr>
            </a:pPr>
            <a:r>
              <a:t>物流効率化と安定供給の実現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303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 UI"/>
              </a:defRPr>
            </a:pPr>
            <a:r>
              <a:t>・配送ルート最適化プロジェクト</a:t>
            </a:r>
            <a:br/>
            <a:r>
              <a:t>・在庫管理システム刷新</a:t>
            </a:r>
            <a:br/>
            <a:r>
              <a:t>・物流コスト削減施策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経営戦略室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Corporate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4114800" cy="73152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920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経営戦略室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26080"/>
            <a:ext cx="3657600" cy="9144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事業戦略チーム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926080"/>
            <a:ext cx="3657600" cy="9144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108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eiryo UI"/>
              </a:defRPr>
            </a:pPr>
            <a:r>
              <a:t>人事戦略チーム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10515600" cy="182880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Meiryo UI"/>
              </a:defRPr>
            </a:pPr>
            <a:r>
              <a:t>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データ分析と改革施策で部門の収益性・生産性を飛躍的に高める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事業戦略チーム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Data &amp; Knowledge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DDDDD"/>
                </a:solidFill>
                <a:latin typeface="Meiryo UI"/>
              </a:defRPr>
            </a:pPr>
            <a:r>
              <a:t>過去実績データの可視化とナレッジ共有で、効率的な成長モデルを構築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60320"/>
            <a:ext cx="9445752" cy="109728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📊 データベース化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 UI"/>
              </a:defRPr>
            </a:pPr>
            <a:r>
              <a:t>売上・利益など過去実績を一元管理し、誰でも活用可能に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931920"/>
            <a:ext cx="9445752" cy="109728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02335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📚 ナレッジ共有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480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 UI"/>
              </a:defRPr>
            </a:pPr>
            <a:r>
              <a:t>成功事例・失敗事例を蓄積し、ベストプラクティスを全社展開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03520"/>
            <a:ext cx="9445752" cy="109728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539495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🎯 分析による戦略立案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521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 UI"/>
              </a:defRPr>
            </a:pPr>
            <a:r>
              <a:t>データ分析から市場傾向を掴み、改善策を立案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人事戦略チーム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DDDD"/>
                </a:solidFill>
              </a:defRPr>
            </a:pPr>
            <a:r>
              <a:t>Human Capital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DDDDD"/>
                </a:solidFill>
                <a:latin typeface="Meiryo UI"/>
              </a:defRPr>
            </a:pPr>
            <a:r>
              <a:t>適材適所の配置・採用力強化・メンタルサポートなど、人が最大の資本となる経営を実現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60320"/>
            <a:ext cx="9445752" cy="109728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👤 適材適所の配置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 UI"/>
              </a:defRPr>
            </a:pPr>
            <a:r>
              <a:t>社員一人ひとりの適性を見極め、最適なポジションで力を発揮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931920"/>
            <a:ext cx="9445752" cy="109728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02335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🌱 人材育成と採用力強化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480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 UI"/>
              </a:defRPr>
            </a:pPr>
            <a:r>
              <a:t>研修プログラム充実・キャリアパス整備・採用ブランド向上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03520"/>
            <a:ext cx="9445752" cy="1097280"/>
          </a:xfrm>
          <a:prstGeom prst="roundRect">
            <a:avLst/>
          </a:prstGeom>
          <a:solidFill>
            <a:srgbClr val="11223A"/>
          </a:solidFill>
          <a:ln w="9525">
            <a:solidFill>
              <a:srgbClr val="2A4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539495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Meiryo UI"/>
              </a:defRPr>
            </a:pPr>
            <a:r>
              <a:t>💚 メンタルサポート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521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 UI"/>
              </a:defRPr>
            </a:pPr>
            <a:r>
              <a:t>定期面談・カウンセリング制度・社内コミュニケーション活性化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8100000">
            <a:off x="-914400" y="-914400"/>
            <a:ext cx="3657600" cy="3657600"/>
          </a:xfrm>
          <a:prstGeom prst="triangl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914400"/>
            <a:ext cx="4873752" cy="4873752"/>
          </a:xfrm>
          <a:prstGeom prst="ellipse">
            <a:avLst/>
          </a:prstGeom>
          <a:solidFill>
            <a:srgbClr val="FF8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Meiryo UI"/>
              </a:defRPr>
            </a:pPr>
            <a:r>
              <a:t>Let's Build the Future.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00"/>
                </a:solidFill>
                <a:latin typeface="Meiryo UI"/>
              </a:defRPr>
            </a:pPr>
            <a:r>
              <a:t>共に未来を創ろう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114800"/>
            <a:ext cx="4873752" cy="45720"/>
          </a:xfrm>
          <a:prstGeom prst="rect">
            <a:avLst/>
          </a:prstGeom>
          <a:solidFill>
            <a:srgbClr val="DDDD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Meiryo UI"/>
              </a:defRPr>
            </a:pPr>
            <a:r>
              <a:t>2026 Retail Support Division Kickoff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