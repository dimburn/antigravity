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2026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6B35"/>
                </a:solidFill>
              </a:defRPr>
            </a:pPr>
            <a:r>
              <a:t>From SUPPORT to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〜 サポートから業界インフラへ変革 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8686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組織改編：リーテイルサポート部門の新体制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【旧体制】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657600" cy="6400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食品流通部門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657600" cy="54864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リーテイルサポート事業部 営業本部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9200" y="2103120"/>
            <a:ext cx="1371600" cy="4572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B35"/>
                </a:solidFill>
              </a:defRPr>
            </a:pPr>
            <a:r>
              <a:t>【新体制】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572000" cy="6400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リーテイルサポート部門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468880"/>
            <a:ext cx="2103120" cy="54864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営業第1事業部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468880"/>
            <a:ext cx="2103120" cy="54864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営業第2事業部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200400"/>
            <a:ext cx="4572000" cy="54864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営業支援本部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✓ 部門名称変更により、より明確なミッションを体現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✓ 営業本部を2つの事業部に再編し、専門性と機動力を強化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2026年度 部門目標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</a:defRPr>
            </a:pPr>
            <a:r>
              <a:t>売上高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1,200億円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</a:defRPr>
            </a:pPr>
            <a:r>
              <a:t>粗利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23億円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</a:defRPr>
            </a:pPr>
            <a:r>
              <a:t>営業利益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8.1億円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5156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この高い目標を、全員の力で達成しよう！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2030年ビジョン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AA"/>
                </a:solidFill>
              </a:defRPr>
            </a:pPr>
            <a:r>
              <a:t>売上高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2,000億円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（グループ全体 4,000億円 の目標達成に向けて）</a:t>
            </a:r>
          </a:p>
        </p:txBody>
      </p:sp>
      <p:sp>
        <p:nvSpPr>
          <p:cNvPr id="6" name="Up Arrow 5"/>
          <p:cNvSpPr/>
          <p:nvPr/>
        </p:nvSpPr>
        <p:spPr>
          <a:xfrm>
            <a:off x="5486400" y="4297680"/>
            <a:ext cx="1371600" cy="731520"/>
          </a:xfrm>
          <a:prstGeom prst="up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2040年 長期ビジョン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</a:defRPr>
            </a:pPr>
            <a:r>
              <a:t>グループ全体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D700"/>
                </a:solidFill>
              </a:defRPr>
            </a:pPr>
            <a:r>
              <a:t>1兆円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</a:defRPr>
            </a:pPr>
            <a:r>
              <a:t>リーテイルサポート部門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5,000億円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途方もない挑戦を、共に成し遂げよう！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5年間の成長計画（2026-2030）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743200"/>
            <a:ext cx="1645920" cy="1371600"/>
          </a:xfrm>
          <a:prstGeom prst="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1200億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粗利23億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2571750"/>
            <a:ext cx="1645920" cy="1543050"/>
          </a:xfrm>
          <a:prstGeom prst="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11455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1350億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174879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粗利35億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400300"/>
            <a:ext cx="1645920" cy="1714500"/>
          </a:xfrm>
          <a:prstGeom prst="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9431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1500億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5773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粗利50億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59" y="2114550"/>
            <a:ext cx="1645920" cy="2000250"/>
          </a:xfrm>
          <a:prstGeom prst="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165735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1750億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129159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粗利75億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19" y="1828800"/>
            <a:ext cx="1645920" cy="2286000"/>
          </a:xfrm>
          <a:prstGeom prst="rect">
            <a:avLst/>
          </a:prstGeom>
          <a:solidFill>
            <a:srgbClr val="FF6B3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2000億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1005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粗利100億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2026年 新組織体制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822960"/>
            <a:ext cx="4114800" cy="54864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リーテイルサポート部門（部門長：青山）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50292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営業第1事業部（青山）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164592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第1グループ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468880"/>
            <a:ext cx="164592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第2グループ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74720" cy="50292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営業第2事業部（山内）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109728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第3G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468880"/>
            <a:ext cx="109728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第4G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468880"/>
            <a:ext cx="109728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営業推進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474720" cy="50292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営業支援本部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68880"/>
            <a:ext cx="109728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業務G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468880"/>
            <a:ext cx="109728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購買戦略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0" y="2468880"/>
            <a:ext cx="1097280" cy="4572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第1事業部：外食業界中心  |  第2事業部：ホテル・ブライダル・介護給食業界中心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人材拡充計画：2030年の組織イメージ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</a:defRPr>
            </a:pPr>
            <a:r>
              <a:t>現在（2026年）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20116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事業部長: 2名</a:t>
            </a:r>
            <a:br/>
            <a:r>
              <a:t>部長級: 6名</a:t>
            </a:r>
            <a:br/>
            <a:r>
              <a:t>中級管理職: 15名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0720" y="2286000"/>
            <a:ext cx="914400" cy="4572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6B35"/>
                </a:solidFill>
              </a:defRPr>
            </a:pPr>
            <a:r>
              <a:t>将来（2030年）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572000" cy="20116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事業部長: 6名</a:t>
            </a:r>
            <a:br/>
            <a:r>
              <a:t>部長級: 12名</a:t>
            </a:r>
            <a:br/>
            <a:r>
              <a:t>中級管理職: 30名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</a:defRPr>
            </a:pPr>
            <a:r>
              <a:t>組織の成長 ＝ 皆さんのキャリアチャンス拡大！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From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AAAAAA"/>
                </a:solidFill>
              </a:defRPr>
            </a:pPr>
            <a:r>
              <a:t>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B35"/>
                </a:solidFill>
              </a:defRPr>
            </a:pPr>
            <a:r>
              <a:t>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114800"/>
            <a:ext cx="8686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〜 サポートから業界インフラへ変革 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食品流通第1事業部：組織＆メンバー体制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4114800" cy="6400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事業部長：青山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4114800" cy="10972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第1グループ</a:t>
            </a:r>
            <a:br/>
            <a:r>
              <a:t>部長：佐藤浩一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03120"/>
            <a:ext cx="4114800" cy="10972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第2グループ</a:t>
            </a:r>
            <a:br/>
            <a:r>
              <a:t>統括マネージャー：洲之内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【担当領域】外食産業（ファミレス・居酒屋・ファストフード等）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第1グループ 2026年度 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売上目標：○○億円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B35"/>
                </a:solidFill>
              </a:defRPr>
            </a:pPr>
            <a:r>
              <a:t>【重点戦略】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主要顧客への提案力強化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新規大型案件の獲得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仕入れコスト改善による利益率向上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第2グループ 2026年度 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売上目標：○○億円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B35"/>
                </a:solidFill>
              </a:defRPr>
            </a:pPr>
            <a:r>
              <a:t>【重点戦略】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新メニュー開発支援の拡充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地方チェーン顧客の開拓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配送効率アップによるコスト削減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食品流通第2事業部：組織＆メンバー体制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6400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事業部長：山内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9144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第3グループ</a:t>
            </a:r>
            <a:br/>
            <a:r>
              <a:t>部長：梶浦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9144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第4グループ</a:t>
            </a:r>
            <a:br/>
            <a:r>
              <a:t>統括マネージャー：平佐多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00400" cy="9144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営業推進室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【担当領域】ホテル・ブライダル・介護施設・受託給食等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第3グループ 2026年度 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売上目標：○○億円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B35"/>
                </a:solidFill>
              </a:defRPr>
            </a:pPr>
            <a:r>
              <a:t>【重点戦略】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主要ホテルチェーンとの新規契約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ブライダル向け新商品提案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サービス品質向上によるリピート増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第4グループ 2026年度 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売上目標：○○億円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B35"/>
                </a:solidFill>
              </a:defRPr>
            </a:pPr>
            <a:r>
              <a:t>【重点戦略】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介護施設向け提案営業の強化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給食業者とのパートナー連携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▶ 地域ニーズ調査による商品最適化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営業支援本部：組織体制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54864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担当部長：山本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9144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業務グループ</a:t>
            </a:r>
            <a:br/>
            <a:r>
              <a:t>部長：前田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業務推進部・CS推進室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9144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購買戦略グループ</a:t>
            </a:r>
            <a:br/>
            <a:r>
              <a:t>部長：若井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購買戦略室・海外調達室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00400" cy="91440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SCMグループ</a:t>
            </a:r>
            <a:br/>
            <a:r>
              <a:t>部長：梶浦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物流企画室・物流管理室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営業支援本部：2026年 重点施策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【業務グループ】営業プロセス効率化とCS向上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・営業事務手順の標準化</a:t>
            </a:r>
            <a:br/>
            <a:r>
              <a:t>・新CRMシステム導入</a:t>
            </a:r>
            <a:br/>
            <a:r>
              <a:t>・カスタマーサポート体制強化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【購買戦略グループ】業界随一の調達ネットワーク拡充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・仕入先ネットワーク拡大（約6,000社→更に増強）</a:t>
            </a:r>
            <a:br/>
            <a:r>
              <a:t>・一括大量仕入れによるコスト削減</a:t>
            </a:r>
            <a:br/>
            <a:r>
              <a:t>・新規サプライヤ開拓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【SCMグループ】物流効率化と安定供給の実現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・配送ルート最適化プロジェクト</a:t>
            </a:r>
            <a:br/>
            <a:r>
              <a:t>・在庫管理システム刷新</a:t>
            </a:r>
            <a:br/>
            <a:r>
              <a:t>・物流コスト削減施策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経営戦略室：収益性・生産性向上への挑戦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4114800" cy="64008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経営戦略室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4114800" cy="73152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事業戦略チーム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03120"/>
            <a:ext cx="4114800" cy="731520"/>
          </a:xfrm>
          <a:prstGeom prst="roundRect">
            <a:avLst/>
          </a:prstGeom>
          <a:solidFill>
            <a:srgbClr val="152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人事戦略チーム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【ミッション】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データ分析と改革施策で部門の収益性・生産性を飛躍的に高める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収益性向上 ｜ 生産性改善 ｜ 課題抽出 ｜ 利益体質強化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事業戦略チーム：データとナレッジによる成長戦略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過去実績データの可視化とナレッジ共有で、効率的な成長モデルを構築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📊 データベース化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売上・利益など過去実績を一元管理し、誰でも活用可能に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📚 ナレッジ共有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成功事例・失敗事例を蓄積し、ベストプラクティスを全社展開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🎯 分析による戦略立案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データ分析から市場傾向を掴み、改善策を立案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人事戦略チーム：人的資本経営の実現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適材適所の配置・採用力強化・メンタルサポートなど、人が最大の資本となる経営を実現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👤 適材適所の配置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社員一人ひとりの適性を見極め、最適なポジションで力を発揮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🌱 人材育成と採用力強化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研修プログラム充実・キャリアパス整備・採用ブランド向上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💚 メンタルサポートとエンゲージメント向上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定期面談・カウンセリング制度・社内コミュニケーション活性化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さあ、共に未来を創ろう！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8686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私たちの手で業界インフラを築こう！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リーテイルブランディング リーテイルサポート部門</a:t>
            </a:r>
            <a:br/>
            <a:r>
              <a:t>2026年度 決起大会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