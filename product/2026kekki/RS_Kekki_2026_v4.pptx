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9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F0FF"/>
                </a:solidFill>
              </a:defRPr>
            </a:pPr>
            <a:r>
              <a:t>[BG: Glowing Infrastructure Network]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7744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0F0F5"/>
                </a:solidFill>
              </a:defRPr>
            </a:pPr>
            <a:r>
              <a:t>From SUPPORT</a:t>
            </a:r>
            <a:br/>
            <a:r>
              <a:t>to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4500"/>
                </a:solidFill>
              </a:defRPr>
            </a:pPr>
            <a:r>
              <a:t>～サポートから業界インフラへ変革～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0F0F5"/>
                </a:solidFill>
                <a:latin typeface="Meiryo UI"/>
              </a:defRPr>
            </a:pPr>
            <a:r>
              <a:t>組織改編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91440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0515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B4B4BE"/>
                </a:solidFill>
                <a:latin typeface="Meiryo UI"/>
              </a:defRPr>
            </a:pPr>
            <a:r>
              <a:t>リーテイルサポート部門の新体制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4114800" cy="3200400"/>
          </a:xfrm>
          <a:prstGeom prst="roundRect">
            <a:avLst/>
          </a:prstGeom>
          <a:solidFill>
            <a:srgbClr val="1E2332"/>
          </a:solidFill>
          <a:ln w="12700">
            <a:solidFill>
              <a:srgbClr val="3C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B4B4BE"/>
                </a:solidFill>
              </a:defRPr>
            </a:pPr>
            <a:r>
              <a:t>OLD: 食品流通部門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926080"/>
            <a:ext cx="3200400" cy="2286000"/>
          </a:xfrm>
          <a:prstGeom prst="rect">
            <a:avLst/>
          </a:prstGeom>
          <a:solidFill>
            <a:srgbClr val="141419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F0FF"/>
                </a:solidFill>
              </a:defRPr>
            </a:pPr>
            <a:r>
              <a:t>[Icon: Mono-color]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486400" y="3657600"/>
            <a:ext cx="1188720" cy="73152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2286000"/>
            <a:ext cx="4114800" cy="3200400"/>
          </a:xfrm>
          <a:prstGeom prst="roundRect">
            <a:avLst/>
          </a:prstGeom>
          <a:solidFill>
            <a:srgbClr val="1E2332"/>
          </a:solidFill>
          <a:ln w="12700">
            <a:solidFill>
              <a:srgbClr val="3C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0" y="2286000"/>
            <a:ext cx="4114800" cy="3200400"/>
          </a:xfrm>
          <a:prstGeom prst="rect">
            <a:avLst/>
          </a:prstGeom>
          <a:noFill/>
          <a:ln w="38100"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23774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FF4500"/>
                </a:solidFill>
              </a:defRPr>
            </a:pPr>
            <a:r>
              <a:t>NEW: リーテイルサポート部門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2926080"/>
            <a:ext cx="3200400" cy="2286000"/>
          </a:xfrm>
          <a:prstGeom prst="rect">
            <a:avLst/>
          </a:prstGeom>
          <a:solidFill>
            <a:srgbClr val="141419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F0FF"/>
                </a:solidFill>
              </a:defRPr>
            </a:pPr>
            <a:r>
              <a:t>[Icon: Colorful]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0F0F5"/>
                </a:solidFill>
                <a:latin typeface="Meiryo UI"/>
              </a:defRPr>
            </a:pPr>
            <a:r>
              <a:t>2026年度 部門目標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91440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0515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B4B4BE"/>
                </a:solidFill>
                <a:latin typeface="Meiryo UI"/>
              </a:defRPr>
            </a:pPr>
            <a:r>
              <a:t>COMMITMENT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047" y="2743200"/>
            <a:ext cx="3200400" cy="2286000"/>
          </a:xfrm>
          <a:prstGeom prst="roundRect">
            <a:avLst/>
          </a:prstGeom>
          <a:solidFill>
            <a:srgbClr val="1E2332"/>
          </a:solidFill>
          <a:ln w="12700">
            <a:solidFill>
              <a:srgbClr val="3C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047" y="292608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4500"/>
                </a:solidFill>
              </a:defRPr>
            </a:pPr>
            <a:r>
              <a:t>1,200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047" y="39319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4B4BE"/>
                </a:solidFill>
              </a:defRPr>
            </a:pPr>
            <a:r>
              <a:t>億円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25603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0F0F5"/>
                </a:solidFill>
              </a:defRPr>
            </a:pPr>
            <a:r>
              <a:t>売上高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5647" y="2743200"/>
            <a:ext cx="3200400" cy="2286000"/>
          </a:xfrm>
          <a:prstGeom prst="roundRect">
            <a:avLst/>
          </a:prstGeom>
          <a:solidFill>
            <a:srgbClr val="1E2332"/>
          </a:solidFill>
          <a:ln w="12700">
            <a:solidFill>
              <a:srgbClr val="3C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5647" y="292608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4500"/>
                </a:solidFill>
              </a:defRPr>
            </a:pPr>
            <a: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647" y="39319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4B4BE"/>
                </a:solidFill>
              </a:defRPr>
            </a:pPr>
            <a:r>
              <a:t>億円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647" y="25603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0F0F5"/>
                </a:solidFill>
              </a:defRPr>
            </a:pPr>
            <a:r>
              <a:t>粗利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3247" y="2743200"/>
            <a:ext cx="3200400" cy="2286000"/>
          </a:xfrm>
          <a:prstGeom prst="roundRect">
            <a:avLst/>
          </a:prstGeom>
          <a:solidFill>
            <a:srgbClr val="1E2332"/>
          </a:solidFill>
          <a:ln w="12700">
            <a:solidFill>
              <a:srgbClr val="3C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3247" y="292608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4500"/>
                </a:solidFill>
              </a:defRPr>
            </a:pPr>
            <a:r>
              <a:t>8.1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3247" y="39319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4B4BE"/>
                </a:solidFill>
              </a:defRPr>
            </a:pPr>
            <a:r>
              <a:t>億円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3247" y="25603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0F0F5"/>
                </a:solidFill>
              </a:defRPr>
            </a:pPr>
            <a:r>
              <a:t>営業利益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9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F0FF"/>
                </a:solidFill>
              </a:defRPr>
            </a:pPr>
            <a:r>
              <a:t>[BG: Future City 2030]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solidFill>
            <a:srgbClr val="0A0F1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0F0F5"/>
                </a:solidFill>
              </a:defRPr>
            </a:pPr>
            <a:r>
              <a:t>2030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6576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F0FF"/>
                </a:solidFill>
              </a:defRPr>
            </a:pPr>
            <a:r>
              <a:t>売上高 2,000億円 / 全体4,000億円の半翼へ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0F0F5"/>
                </a:solidFill>
                <a:latin typeface="Meiryo UI"/>
              </a:defRPr>
            </a:pPr>
            <a:r>
              <a:t>第1グループ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91440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0515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B4B4BE"/>
                </a:solidFill>
                <a:latin typeface="Meiryo UI"/>
              </a:defRPr>
            </a:pPr>
            <a:r>
              <a:t>主要顧客深耕 × 大型案件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4114800"/>
          </a:xfrm>
          <a:prstGeom prst="roundRect">
            <a:avLst/>
          </a:prstGeom>
          <a:solidFill>
            <a:srgbClr val="1E2332"/>
          </a:solidFill>
          <a:ln w="12700">
            <a:solidFill>
              <a:srgbClr val="3C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120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4500"/>
                </a:solidFill>
              </a:defRPr>
            </a:pPr>
            <a:r>
              <a:t>売上目標: 〇〇〇 億円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51206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0F0F5"/>
                </a:solidFill>
                <a:latin typeface="Meiryo UI"/>
              </a:defRPr>
            </a:pPr>
            <a:r>
              <a:t>▶ 既存顧客シェア100%</a:t>
            </a:r>
          </a:p>
          <a:p>
            <a:pPr>
              <a:spcAft>
                <a:spcPts val="1400"/>
              </a:spcAft>
              <a:defRPr sz="2400">
                <a:solidFill>
                  <a:srgbClr val="F0F0F5"/>
                </a:solidFill>
                <a:latin typeface="Meiryo UI"/>
              </a:defRPr>
            </a:pPr>
            <a:r>
              <a:t>▶ 新規大型案件 奪取</a:t>
            </a:r>
          </a:p>
          <a:p>
            <a:pPr>
              <a:spcAft>
                <a:spcPts val="1400"/>
              </a:spcAft>
              <a:defRPr sz="2400">
                <a:solidFill>
                  <a:srgbClr val="F0F0F5"/>
                </a:solidFill>
                <a:latin typeface="Meiryo UI"/>
              </a:defRPr>
            </a:pPr>
            <a:r>
              <a:t>▶ 利益率改善 +Xpt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solidFill>
            <a:srgbClr val="141419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F0FF"/>
                </a:solidFill>
              </a:defRPr>
            </a:pPr>
            <a:r>
              <a:t>[Photo: First Group Action]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0F0F5"/>
                </a:solidFill>
                <a:latin typeface="Meiryo UI"/>
              </a:defRPr>
            </a:pPr>
            <a:r>
              <a:t>第2グループ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91440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0515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B4B4BE"/>
                </a:solidFill>
                <a:latin typeface="Meiryo UI"/>
              </a:defRPr>
            </a:pPr>
            <a:r>
              <a:t>差別化戦略 × エリア開拓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4114800"/>
          </a:xfrm>
          <a:prstGeom prst="roundRect">
            <a:avLst/>
          </a:prstGeom>
          <a:solidFill>
            <a:srgbClr val="1E2332"/>
          </a:solidFill>
          <a:ln w="12700">
            <a:solidFill>
              <a:srgbClr val="3C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120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4500"/>
                </a:solidFill>
              </a:defRPr>
            </a:pPr>
            <a:r>
              <a:t>売上目標: 〇〇〇 億円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51206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0F0F5"/>
                </a:solidFill>
                <a:latin typeface="Meiryo UI"/>
              </a:defRPr>
            </a:pPr>
            <a:r>
              <a:t>▶ 地方有力チェーン開拓</a:t>
            </a:r>
          </a:p>
          <a:p>
            <a:pPr>
              <a:spcAft>
                <a:spcPts val="1400"/>
              </a:spcAft>
              <a:defRPr sz="2400">
                <a:solidFill>
                  <a:srgbClr val="F0F0F5"/>
                </a:solidFill>
                <a:latin typeface="Meiryo UI"/>
              </a:defRPr>
            </a:pPr>
            <a:r>
              <a:t>▶ メニュー開発支援</a:t>
            </a:r>
          </a:p>
          <a:p>
            <a:pPr>
              <a:spcAft>
                <a:spcPts val="1400"/>
              </a:spcAft>
              <a:defRPr sz="2400">
                <a:solidFill>
                  <a:srgbClr val="F0F0F5"/>
                </a:solidFill>
                <a:latin typeface="Meiryo UI"/>
              </a:defRPr>
            </a:pPr>
            <a:r>
              <a:t>▶ 配送効率の極大化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solidFill>
            <a:srgbClr val="141419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F0FF"/>
                </a:solidFill>
              </a:defRPr>
            </a:pPr>
            <a:r>
              <a:t>[Photo: Map &amp; Logistics]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0F0F5"/>
                </a:solidFill>
                <a:latin typeface="Meiryo UI"/>
              </a:defRPr>
            </a:pPr>
            <a:r>
              <a:t>2026 重点施策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91440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0515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B4B4BE"/>
                </a:solidFill>
                <a:latin typeface="Meiryo UI"/>
              </a:defRPr>
            </a:pPr>
            <a:r>
              <a:t>インフラとしての『質』と『量』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127" y="1828800"/>
            <a:ext cx="3657600" cy="4114800"/>
          </a:xfrm>
          <a:prstGeom prst="roundRect">
            <a:avLst/>
          </a:prstGeom>
          <a:solidFill>
            <a:srgbClr val="1E2332"/>
          </a:solidFill>
          <a:ln w="12700">
            <a:solidFill>
              <a:srgbClr val="3C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127" y="2011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0FF"/>
                </a:solidFill>
              </a:defRPr>
            </a:pPr>
            <a:r>
              <a:t>【業務】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007" y="2743200"/>
            <a:ext cx="3291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0F0F5"/>
                </a:solidFill>
                <a:latin typeface="Meiryo UI"/>
              </a:defRPr>
            </a:pPr>
            <a:r>
              <a:t>▶ No more 事務作業</a:t>
            </a:r>
          </a:p>
          <a:p>
            <a:pPr>
              <a:spcAft>
                <a:spcPts val="1400"/>
              </a:spcAft>
              <a:defRPr sz="2400">
                <a:solidFill>
                  <a:srgbClr val="F0F0F5"/>
                </a:solidFill>
                <a:latin typeface="Meiryo UI"/>
              </a:defRPr>
            </a:pPr>
            <a:r>
              <a:t>▶ 新CRM導入</a:t>
            </a:r>
          </a:p>
          <a:p>
            <a:pPr>
              <a:spcAft>
                <a:spcPts val="1400"/>
              </a:spcAft>
              <a:defRPr sz="2400">
                <a:solidFill>
                  <a:srgbClr val="F0F0F5"/>
                </a:solidFill>
                <a:latin typeface="Meiryo UI"/>
              </a:defRPr>
            </a:pPr>
            <a:r>
              <a:t>▶ プロセス効率化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047" y="1828800"/>
            <a:ext cx="3657600" cy="4114800"/>
          </a:xfrm>
          <a:prstGeom prst="roundRect">
            <a:avLst/>
          </a:prstGeom>
          <a:solidFill>
            <a:srgbClr val="1E2332"/>
          </a:solidFill>
          <a:ln w="12700">
            <a:solidFill>
              <a:srgbClr val="3C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7047" y="2011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0FF"/>
                </a:solidFill>
              </a:defRPr>
            </a:pPr>
            <a:r>
              <a:t>【購買】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9927" y="2743200"/>
            <a:ext cx="3291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0F0F5"/>
                </a:solidFill>
                <a:latin typeface="Meiryo UI"/>
              </a:defRPr>
            </a:pPr>
            <a:r>
              <a:t>▶ 圧倒的バイイングパワー</a:t>
            </a:r>
          </a:p>
          <a:p>
            <a:pPr>
              <a:spcAft>
                <a:spcPts val="1400"/>
              </a:spcAft>
              <a:defRPr sz="2400">
                <a:solidFill>
                  <a:srgbClr val="F0F0F5"/>
                </a:solidFill>
                <a:latin typeface="Meiryo UI"/>
              </a:defRPr>
            </a:pPr>
            <a:r>
              <a:t>▶ NW 6,000社活用</a:t>
            </a:r>
          </a:p>
          <a:p>
            <a:pPr>
              <a:spcAft>
                <a:spcPts val="1400"/>
              </a:spcAft>
              <a:defRPr sz="2400">
                <a:solidFill>
                  <a:srgbClr val="F0F0F5"/>
                </a:solidFill>
                <a:latin typeface="Meiryo UI"/>
              </a:defRPr>
            </a:pPr>
            <a:r>
              <a:t>▶ 原価低減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8967" y="1828800"/>
            <a:ext cx="3657600" cy="4114800"/>
          </a:xfrm>
          <a:prstGeom prst="roundRect">
            <a:avLst/>
          </a:prstGeom>
          <a:solidFill>
            <a:srgbClr val="1E2332"/>
          </a:solidFill>
          <a:ln w="12700">
            <a:solidFill>
              <a:srgbClr val="3C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8967" y="2011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0FF"/>
                </a:solidFill>
              </a:defRPr>
            </a:pPr>
            <a:r>
              <a:t>【SCM】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1847" y="2743200"/>
            <a:ext cx="3291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0F0F5"/>
                </a:solidFill>
                <a:latin typeface="Meiryo UI"/>
              </a:defRPr>
            </a:pPr>
            <a:r>
              <a:t>▶ 欠品ゼロ・遅延ゼロ</a:t>
            </a:r>
          </a:p>
          <a:p>
            <a:pPr>
              <a:spcAft>
                <a:spcPts val="1400"/>
              </a:spcAft>
              <a:defRPr sz="2400">
                <a:solidFill>
                  <a:srgbClr val="F0F0F5"/>
                </a:solidFill>
                <a:latin typeface="Meiryo UI"/>
              </a:defRPr>
            </a:pPr>
            <a:r>
              <a:t>▶ 物流効率化</a:t>
            </a:r>
          </a:p>
          <a:p>
            <a:pPr>
              <a:spcAft>
                <a:spcPts val="1400"/>
              </a:spcAft>
              <a:defRPr sz="2400">
                <a:solidFill>
                  <a:srgbClr val="F0F0F5"/>
                </a:solidFill>
                <a:latin typeface="Meiryo UI"/>
              </a:defRPr>
            </a:pPr>
            <a:r>
              <a:t>▶ 安定供給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9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F0FF"/>
                </a:solidFill>
              </a:defRPr>
            </a:pPr>
            <a:r>
              <a:t>[BG: New Dawn]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0F0F5"/>
                </a:solidFill>
              </a:defRPr>
            </a:pPr>
            <a:r>
              <a:t>さあ、共に未来を創ろう！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4500"/>
                </a:solidFill>
              </a:defRPr>
            </a:pPr>
            <a:r>
              <a:t>私たちの手で業界インフラを築こう！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